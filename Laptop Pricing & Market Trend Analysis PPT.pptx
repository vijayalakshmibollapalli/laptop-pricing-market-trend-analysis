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60" r:id="rId5"/>
    <p:sldId id="266" r:id="rId6"/>
    <p:sldId id="261" r:id="rId7"/>
    <p:sldId id="262" r:id="rId8"/>
    <p:sldId id="263" r:id="rId9"/>
    <p:sldId id="265" r:id="rId10"/>
    <p:sldId id="267" r:id="rId11"/>
    <p:sldId id="269" r:id="rId12"/>
    <p:sldId id="268" r:id="rId13"/>
    <p:sldId id="270" r:id="rId14"/>
    <p:sldId id="271" r:id="rId15"/>
    <p:sldId id="272" r:id="rId16"/>
    <p:sldId id="273" r:id="rId17"/>
    <p:sldId id="274" r:id="rId18"/>
    <p:sldId id="279" r:id="rId19"/>
    <p:sldId id="283" r:id="rId20"/>
    <p:sldId id="280" r:id="rId21"/>
    <p:sldId id="282" r:id="rId22"/>
    <p:sldId id="284" r:id="rId23"/>
    <p:sldId id="285" r:id="rId24"/>
    <p:sldId id="275" r:id="rId25"/>
    <p:sldId id="277" r:id="rId26"/>
    <p:sldId id="276" r:id="rId27"/>
    <p:sldId id="278" r:id="rId28"/>
    <p:sldId id="286" r:id="rId29"/>
    <p:sldId id="259" r:id="rId30"/>
  </p:sldIdLst>
  <p:sldSz cx="12192000" cy="6858000"/>
  <p:notesSz cx="6858000" cy="9144000"/>
  <p:embeddedFontLst>
    <p:embeddedFont>
      <p:font typeface="Lato Black" panose="020F0502020204030203" pitchFamily="34" charset="0"/>
      <p:bold r:id="rId32"/>
      <p:boldItalic r:id="rId33"/>
    </p:embeddedFont>
    <p:embeddedFont>
      <p:font typeface="Libre Baskerville" panose="02000000000000000000" pitchFamily="2" charset="0"/>
      <p:regular r:id="rId34"/>
      <p:bold r:id="rId35"/>
      <p: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D67880E-3CD8-9F89-0433-0F436CA3A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70CB7FA-28DB-A218-FC9F-15D9321F91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89FB3E8A-065B-3AC3-DFF9-440EAD53A6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64599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62D3852-D1B7-7C02-EAFE-6074AB3BE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03B60246-A7E9-C4C5-10DF-93D7638A44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7600622F-477F-CF4A-6F2D-93A25C7C98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91648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69B8AAD-57EE-EC4B-82BE-C1AE73B5F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E16EDFFD-5F27-1F05-E99A-3DBAE693AD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8180B100-7951-266C-E263-2A619E3D19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3939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FDC2BDA-B28B-A3A8-88AA-6BD2A707F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061116A4-3929-F967-8E89-19589E525A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EFC629A2-10E0-11E7-139B-E0B9F0EAA1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1625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B20FA41-43A4-22E4-3D87-E2B22CED3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4F525D1A-613F-DDCA-777A-5AE1306922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6AD6E19E-4012-98F9-DD72-9B6C987117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766795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4F306F8-FA99-9918-E8E2-2945EDA41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3DD8F20C-08B3-E63C-828E-596801D20D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61A3AE8E-677D-CC23-974B-A91E18C0A0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754619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97AAECF-3E1E-F527-B3A6-47D68D690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91D1DFD3-73E6-4459-2EB5-7CB3F74B76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17B1976-2A61-D3A2-FFA7-068C1E97D9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451198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3585965-7AB4-8C09-1C72-94E7955D6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812DACF8-909F-A8BC-470B-C342F5DCD8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DEBEC1FC-0586-92A4-0D7E-94C102DCB7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224432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E49FCFC-DA82-F04F-FB06-BF5FE3096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FC7A6723-6860-EE6E-D872-EF91C7AD5B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7924ACE7-6C3F-CA7F-7122-7328D0F712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601227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37E8CED-8839-D22B-0FEC-4E79B44CE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743C101-D10A-37C9-A8EF-F25E2CF34D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CE9E19E9-8DC7-3233-D72A-417EC2DD1F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193253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6F866E5-F994-2B33-7AB0-CBFA10D0E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5AC8350-6C0B-C319-99B5-ED03BD3A64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7146DD00-8B57-86A2-0CC0-D995CBEAD1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306999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1510945-F863-683B-EBFD-A9861E2DF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226D9D5-EFD9-A3F8-7988-30076BBB53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D53A023-04A9-C145-E637-DF761F231A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76830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AC04131-AB07-DB2C-CCFC-D29E2E241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CC6FE113-FEEF-7BA9-35EF-AF12178FD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2DF32174-0354-1D86-7D2F-A57B5BB06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132486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1F54EE3-4348-9D0C-CF5F-A78D3D534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F2A92676-3340-41A1-2911-FB1830DE60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B2491FB8-EDED-7919-B835-4E9E2544D5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613947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BDE4233-F3F5-BA58-6946-71AFCFC33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5E6AE578-9125-F099-A2DC-B65CA43E4C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0F8B13D-15FB-92EC-A6B8-2573AD1BE3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51111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325596C-FF2A-79A2-E6C1-9B7DDB10C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E4115FDE-3942-2B96-8C6A-C0AB6AEA23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2565179-6273-F8D3-0515-0AA68A0AF6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39926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7826BB6-AFB4-369D-8103-D42410F44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30C3F055-FFC2-F655-7E67-37D596D1D8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AB7A495-476F-E8C4-3732-C64A034AF5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736372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804920D-82F3-FD26-A5CC-83862875D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AADC5CA3-CA05-6600-1F78-35C1C5375F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22C69F5B-F029-596A-8E9E-19302E2E29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527894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F6F78D9-4C96-C5A9-36EF-6C84307C1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BEAA464B-042E-34B3-FBB8-583B48D2AF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5F32535-E816-25DF-66A4-4CC4426001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291084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EBBE2EB-040A-41DE-64A9-F54A1356F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2895E808-A185-C77C-8D23-87536794F7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FB40F83B-7495-2610-8CE1-6EC62E0307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554645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297012B-CB47-4958-624F-B081DDC2E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99784C63-BFC1-2DA8-DF28-268FAE867B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3113F8B-4C2F-8F0D-D4AA-BB11B2AB19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074212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bollapalli-vijaya-lakshmi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Vijayalakshmibollapalli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pkart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81951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Laptop Pricing &amp; Market Trend Analysis</a:t>
            </a:r>
            <a:endParaRPr sz="2800" b="1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D78F7C-5025-5C63-317E-C9A4D02A51DB}"/>
              </a:ext>
            </a:extLst>
          </p:cNvPr>
          <p:cNvSpPr txBox="1"/>
          <p:nvPr/>
        </p:nvSpPr>
        <p:spPr>
          <a:xfrm>
            <a:off x="8694593" y="5291459"/>
            <a:ext cx="24709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E42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</a:t>
            </a:r>
          </a:p>
          <a:p>
            <a:r>
              <a:rPr lang="en-IN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 Vijaya Lakshmi</a:t>
            </a:r>
          </a:p>
          <a:p>
            <a:r>
              <a:rPr lang="en-IN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No: 460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10251030" cy="292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 am a Recent Post Graduate in Data Science from </a:t>
            </a:r>
            <a:r>
              <a:rPr lang="en-IN" sz="2400" b="1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Bankatlal</a:t>
            </a:r>
            <a:r>
              <a:rPr lang="en-IN" sz="24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IN" sz="2400" b="1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Badruka</a:t>
            </a:r>
            <a:r>
              <a:rPr lang="en-IN" sz="24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College For Information Technology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IN" sz="5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342900" marR="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a Data Science graduate, I am passionate about applying analytical and technical skills to solve real-world business problems using data-driven approaches.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IN" sz="5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342900" marR="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LinkedIn : 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www.linkedin.com/in/bollapalli-vijaya-lakshmi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IN" sz="5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342900" marR="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GitHub : </a:t>
            </a:r>
            <a:r>
              <a:rPr lang="en-IN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Vijayalakshmibollapalli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sz="24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737812" y="573870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1" i="1" u="sng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1" i="1" u="sng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497230" y="-7021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b="1" i="1" u="sng" dirty="0">
                <a:solidFill>
                  <a:srgbClr val="FF0000"/>
                </a:solidFill>
              </a:rPr>
              <a:t>Agenda</a:t>
            </a:r>
            <a:endParaRPr b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1015180" y="1040383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82600" lvl="0" indent="-457200">
              <a:buSzPts val="24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 and Objective</a:t>
            </a:r>
          </a:p>
          <a:p>
            <a:pPr lvl="0" indent="-431800">
              <a:buSzPts val="2400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Scraping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431800">
              <a:buSzPts val="2400"/>
            </a:pPr>
            <a:r>
              <a:rPr lang="en-IN" sz="2400" b="1" dirty="0"/>
              <a:t>Dataset Overview</a:t>
            </a:r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431800">
              <a:buSzPts val="2400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</a:t>
            </a:r>
          </a:p>
          <a:p>
            <a:pPr indent="-431800">
              <a:buSzPts val="2400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Univariate Analysis</a:t>
            </a:r>
          </a:p>
          <a:p>
            <a:pPr indent="-431800">
              <a:buSzPts val="2400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Bivariate Analysis</a:t>
            </a:r>
          </a:p>
          <a:p>
            <a:pPr indent="-431800">
              <a:buSzPts val="2400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Multivariate Analysis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indent="-431800">
              <a:buSzPts val="2400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Hypothesis Testing</a:t>
            </a:r>
          </a:p>
          <a:p>
            <a:pPr lvl="0" indent="-431800">
              <a:buSzPts val="2400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Faced</a:t>
            </a:r>
          </a:p>
          <a:p>
            <a:pPr lvl="0" indent="-431800">
              <a:buSzPts val="2400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business insights and recommendations</a:t>
            </a:r>
          </a:p>
          <a:p>
            <a:pPr lvl="0" indent="-431800">
              <a:buSzPts val="2400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7D4628A-B3C8-48A0-EC14-EEAE5A551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BF32FB12-DC9B-078A-2D00-6C092D7544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4306" y="662046"/>
            <a:ext cx="10515600" cy="66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b="1" i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</a:t>
            </a:r>
            <a:endParaRPr b="1" i="1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15DB0F24-8BE8-9A58-7DFB-5807988488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87822"/>
            <a:ext cx="10515600" cy="1695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Laptop prices vary widely across different brands and specifications in the market. Features such as </a:t>
            </a:r>
            <a:r>
              <a:rPr lang="en-US" sz="2000" b="1" dirty="0"/>
              <a:t>RAM, processor, storage, and brand reputation</a:t>
            </a:r>
            <a:r>
              <a:rPr lang="en-US" sz="2000" dirty="0"/>
              <a:t> can significantly affect the price of a laptop.</a:t>
            </a:r>
          </a:p>
          <a:p>
            <a:pPr marL="114300" indent="0">
              <a:buNone/>
            </a:pPr>
            <a:endParaRPr lang="en-US" sz="1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Because of these variations, it becomes difficult for customers to easily compare laptops and understand whether a laptop is reasonably priced.</a:t>
            </a:r>
          </a:p>
          <a:p>
            <a:pPr marL="114300" indent="0">
              <a:buNone/>
            </a:pPr>
            <a:endParaRPr lang="en-US" sz="1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Although many laptops are listed on online platforms, the data is not structured in a way that makes it easy to analyze pricing patterns and feature differences.</a:t>
            </a:r>
          </a:p>
          <a:p>
            <a:pPr marL="114300" indent="0">
              <a:buNone/>
            </a:pPr>
            <a:endParaRPr lang="en-US" sz="1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Therefore, this project focuses on collecting and analyzing laptop data to identify the key factors that influence laptop prices.</a:t>
            </a:r>
          </a:p>
        </p:txBody>
      </p:sp>
    </p:spTree>
    <p:extLst>
      <p:ext uri="{BB962C8B-B14F-4D97-AF65-F5344CB8AC3E}">
        <p14:creationId xmlns:p14="http://schemas.microsoft.com/office/powerpoint/2010/main" val="1675035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FBFF915-51DC-6D36-EBB0-4E280DDEC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0;p4">
            <a:extLst>
              <a:ext uri="{FF2B5EF4-FFF2-40B4-BE49-F238E27FC236}">
                <a16:creationId xmlns:a16="http://schemas.microsoft.com/office/drawing/2014/main" id="{BDE77353-0F4D-EF9F-0A7C-EAB484B25D50}"/>
              </a:ext>
            </a:extLst>
          </p:cNvPr>
          <p:cNvSpPr txBox="1">
            <a:spLocks/>
          </p:cNvSpPr>
          <p:nvPr/>
        </p:nvSpPr>
        <p:spPr>
          <a:xfrm>
            <a:off x="428404" y="720167"/>
            <a:ext cx="10515600" cy="66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FF0000"/>
              </a:buClr>
              <a:buSzPts val="4400"/>
            </a:pPr>
            <a:r>
              <a:rPr lang="en-IN" sz="4000" b="1" i="1" u="sng" dirty="0">
                <a:solidFill>
                  <a:srgbClr val="FF0000"/>
                </a:solidFill>
              </a:rPr>
              <a:t>Objective</a:t>
            </a:r>
            <a:endParaRPr lang="en-IN" sz="4000" b="1" i="1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111;p4">
            <a:extLst>
              <a:ext uri="{FF2B5EF4-FFF2-40B4-BE49-F238E27FC236}">
                <a16:creationId xmlns:a16="http://schemas.microsoft.com/office/drawing/2014/main" id="{CF95838D-2413-D278-CA81-591A13E7DA35}"/>
              </a:ext>
            </a:extLst>
          </p:cNvPr>
          <p:cNvSpPr txBox="1">
            <a:spLocks/>
          </p:cNvSpPr>
          <p:nvPr/>
        </p:nvSpPr>
        <p:spPr>
          <a:xfrm>
            <a:off x="1083231" y="1574218"/>
            <a:ext cx="10515600" cy="2232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collect laptop data from online platforms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5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clean and organize the data for analysis.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analyze how features like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brand, processor, RAM, storage, and rating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affect laptop prices.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identify the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factors influencing laptop pricing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understand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pricing trends in the laptop market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provide useful insights for better purchasing decisions.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provide data-driven insights for better purchasing decisions.</a:t>
            </a:r>
            <a:endParaRPr lang="en-US" alt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418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EDCC52A-163A-DCCE-A725-2BCB225A0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CDA2180E-82D1-1A87-16DC-BF6ACFC09A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7566" y="235726"/>
            <a:ext cx="10515600" cy="88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3600" b="1" i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Scraping Details</a:t>
            </a:r>
            <a:endParaRPr sz="3600" b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175F207C-41A6-F2E2-E389-FB8D606529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213" y="1040383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8300">
              <a:buClr>
                <a:srgbClr val="FF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rgbClr val="FF0000"/>
                </a:solidFill>
              </a:rPr>
              <a:t>Website: </a:t>
            </a:r>
            <a:r>
              <a:rPr lang="en-US" sz="2000" dirty="0">
                <a:hlinkClick r:id="rId3"/>
              </a:rPr>
              <a:t>Online Shopping Site for Mobiles, Electronics, Furniture, Grocery, Lifestyle, Books &amp; More. Best Offers!</a:t>
            </a:r>
            <a:endParaRPr lang="en-IN" sz="2400" b="1" dirty="0">
              <a:solidFill>
                <a:srgbClr val="FF0000"/>
              </a:solidFill>
            </a:endParaRPr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100" b="1" dirty="0">
              <a:solidFill>
                <a:srgbClr val="FF0000"/>
              </a:solidFill>
            </a:endParaRPr>
          </a:p>
          <a:p>
            <a:pPr marL="368300">
              <a:buClr>
                <a:srgbClr val="FF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rgbClr val="FF0000"/>
                </a:solidFill>
              </a:rPr>
              <a:t>Tools Used: </a:t>
            </a:r>
            <a:r>
              <a:rPr lang="en-US" sz="2000" dirty="0"/>
              <a:t>Python, Selenium, </a:t>
            </a:r>
            <a:r>
              <a:rPr lang="en-IN" sz="2000" dirty="0"/>
              <a:t>Locators (XPath / CSS Selectors)</a:t>
            </a:r>
            <a:r>
              <a:rPr lang="en-US" sz="2000" dirty="0"/>
              <a:t>, and Regular Expressions (Regex) were used to automatically open the website and extract laptop information.</a:t>
            </a:r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US" sz="100" b="1" dirty="0">
              <a:solidFill>
                <a:srgbClr val="FF0000"/>
              </a:solidFill>
            </a:endParaRPr>
          </a:p>
          <a:p>
            <a:pPr marL="368300">
              <a:buClr>
                <a:srgbClr val="FF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FF0000"/>
                </a:solidFill>
              </a:rPr>
              <a:t>Approach:</a:t>
            </a:r>
            <a:r>
              <a:rPr lang="en-US" sz="2000" dirty="0"/>
              <a:t> Inspecting The Website &gt; Install Selenium &gt; Opens Target URL &gt; Locate Elements</a:t>
            </a:r>
            <a:r>
              <a:rPr lang="en-IN" sz="2000" dirty="0"/>
              <a:t>(XPath/CSS</a:t>
            </a:r>
            <a:r>
              <a:rPr lang="en-US" sz="2000" dirty="0"/>
              <a:t>) &gt; Extract The Data Using Regex &gt; </a:t>
            </a:r>
            <a:r>
              <a:rPr lang="en-IN" sz="2000" dirty="0"/>
              <a:t>Create Pandas </a:t>
            </a:r>
            <a:r>
              <a:rPr lang="en-IN" sz="2000" dirty="0" err="1"/>
              <a:t>DataFrame</a:t>
            </a:r>
            <a:r>
              <a:rPr lang="en-IN" sz="2000" dirty="0"/>
              <a:t> </a:t>
            </a:r>
            <a:r>
              <a:rPr lang="en-US" sz="2000" dirty="0"/>
              <a:t>&gt; Store The Data.</a:t>
            </a:r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US" sz="5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r>
              <a:rPr lang="en-US" sz="2000" dirty="0"/>
              <a:t>Saved To Structured Data Frame For EDA Analysis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82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090C582-28D9-8533-2EF7-5E68A3B0A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7A5F8A6B-0AFD-2CB0-6476-1691FB0D1A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062" y="0"/>
            <a:ext cx="10515600" cy="930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3600" b="1" i="1" u="sng" dirty="0">
                <a:solidFill>
                  <a:srgbClr val="FF0000"/>
                </a:solidFill>
              </a:rPr>
              <a:t>Summary Of The Data</a:t>
            </a:r>
            <a:endParaRPr sz="3600" b="1" i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A6A81C23-F1F5-813A-45B9-BB945D4A26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15180" y="1040383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lvl="0" indent="0">
              <a:buSzPts val="2400"/>
              <a:buNone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5400" lvl="0" indent="0">
              <a:buSzPts val="2400"/>
              <a:buNone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5400" lvl="0" indent="0">
              <a:buSzPts val="2400"/>
              <a:buNone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5400" lvl="0" indent="0">
              <a:buSzPts val="2400"/>
              <a:buNone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5400" lvl="0" indent="0">
              <a:buSzPts val="2400"/>
              <a:buNone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5400" lvl="0" indent="0">
              <a:buSzPts val="2400"/>
              <a:buNone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5400" lvl="0" indent="0">
              <a:buSzPts val="2400"/>
              <a:buNone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5400" lvl="0" indent="0">
              <a:buSzPts val="2400"/>
              <a:buNone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5400" lvl="0" indent="0">
              <a:buSzPts val="2400"/>
              <a:buNone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5400" lvl="0" indent="0">
              <a:buSzPts val="2400"/>
              <a:buNone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02D9BC-129C-E173-F520-F5D36F850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49" y="930390"/>
            <a:ext cx="11088061" cy="40618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9C3463-0149-B90F-2969-5F242AA6EBA8}"/>
              </a:ext>
            </a:extLst>
          </p:cNvPr>
          <p:cNvSpPr txBox="1"/>
          <p:nvPr/>
        </p:nvSpPr>
        <p:spPr>
          <a:xfrm>
            <a:off x="661220" y="5271313"/>
            <a:ext cx="1108806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Laptop Variants Extracted: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984</a:t>
            </a:r>
          </a:p>
          <a:p>
            <a:endParaRPr lang="en-US" sz="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Colums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Brand, Processor, Operating System, RAM,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RAM_Type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Storage (SSD), Display,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Selling_Price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Original_Price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Discount_on_OriginalPrice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Rating</a:t>
            </a:r>
          </a:p>
        </p:txBody>
      </p:sp>
    </p:spTree>
    <p:extLst>
      <p:ext uri="{BB962C8B-B14F-4D97-AF65-F5344CB8AC3E}">
        <p14:creationId xmlns:p14="http://schemas.microsoft.com/office/powerpoint/2010/main" val="2264231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FC4918B-009C-3C90-D346-21B4E6635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E9307A3A-B41D-EDDF-5001-AD9EBF08AA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6560" y="145650"/>
            <a:ext cx="10515600" cy="88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4000" b="1" i="1" u="sng" dirty="0">
                <a:solidFill>
                  <a:srgbClr val="FF0000"/>
                </a:solidFill>
              </a:rPr>
              <a:t>Data Cleaning</a:t>
            </a:r>
            <a:endParaRPr sz="4000" b="1" i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2C2418DF-598A-2748-90D7-3E1D3BBFB2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027375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8300">
              <a:buClr>
                <a:srgbClr val="FF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400" b="1" dirty="0"/>
              <a:t>Removed unwanted text and symbols</a:t>
            </a:r>
            <a:r>
              <a:rPr lang="en-US" sz="2400" dirty="0"/>
              <a:t> from different columns to keep only useful values.</a:t>
            </a:r>
          </a:p>
          <a:p>
            <a:pPr marL="368300">
              <a:buClr>
                <a:srgbClr val="FF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400" b="1" dirty="0"/>
              <a:t>Converted columns to appropriate data types</a:t>
            </a:r>
            <a:r>
              <a:rPr lang="en-US" sz="2400" dirty="0"/>
              <a:t> such as </a:t>
            </a:r>
            <a:r>
              <a:rPr lang="en-US" sz="2400" b="1" dirty="0"/>
              <a:t>integer and float</a:t>
            </a:r>
            <a:r>
              <a:rPr lang="en-US" sz="2400" dirty="0"/>
              <a:t> for proper analysis.</a:t>
            </a:r>
          </a:p>
          <a:p>
            <a:pPr marL="368300">
              <a:buClr>
                <a:srgbClr val="FF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400" b="1" dirty="0"/>
              <a:t>Extracted numerical values</a:t>
            </a:r>
            <a:r>
              <a:rPr lang="en-US" sz="2400" dirty="0"/>
              <a:t> from text fields such as </a:t>
            </a:r>
            <a:r>
              <a:rPr lang="en-US" sz="2400" b="1" dirty="0"/>
              <a:t>SSD</a:t>
            </a:r>
            <a:r>
              <a:rPr lang="en-US" sz="2400" dirty="0"/>
              <a:t> using </a:t>
            </a:r>
            <a:r>
              <a:rPr lang="en-US" sz="2400" b="1" dirty="0"/>
              <a:t>Regular Expressions (Regex)</a:t>
            </a:r>
            <a:r>
              <a:rPr lang="en-US" sz="2400" dirty="0"/>
              <a:t>.</a:t>
            </a:r>
          </a:p>
          <a:p>
            <a:pPr marL="368300">
              <a:buClr>
                <a:srgbClr val="FF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400" b="1" dirty="0"/>
              <a:t>Removed duplicate records</a:t>
            </a:r>
            <a:r>
              <a:rPr lang="en-US" sz="2400" dirty="0"/>
              <a:t> to maintain data accuracy.</a:t>
            </a:r>
            <a:endParaRPr lang="en-IN" sz="2400" dirty="0"/>
          </a:p>
          <a:p>
            <a:pPr marL="368300">
              <a:buClr>
                <a:srgbClr val="FF0000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sz="2400" b="1" dirty="0"/>
              <a:t>Handled missing values</a:t>
            </a:r>
            <a:r>
              <a:rPr lang="en-US" sz="2400" dirty="0"/>
              <a:t> using appropriate techniques to ensure dataset completeness.</a:t>
            </a:r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US" sz="5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r>
              <a:rPr lang="en-US" sz="2400" dirty="0"/>
              <a:t>This cleaning process improved the </a:t>
            </a:r>
            <a:r>
              <a:rPr lang="en-US" sz="2400" b="1" dirty="0"/>
              <a:t>quality, consistency, and reliability of the dataset</a:t>
            </a:r>
            <a:r>
              <a:rPr lang="en-US" sz="2400" dirty="0"/>
              <a:t>, making it ready for </a:t>
            </a:r>
            <a:r>
              <a:rPr lang="en-US" sz="2400" b="1" dirty="0"/>
              <a:t>EDA and visualization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8442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1AEBB70-327C-174D-CC3C-53815393A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33FBAC03-59FB-70F7-97CC-66011FDFEF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787" y="1191767"/>
            <a:ext cx="4805513" cy="594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2800" b="1" i="1" u="sng" dirty="0">
                <a:solidFill>
                  <a:srgbClr val="FF0000"/>
                </a:solidFill>
              </a:rPr>
              <a:t>Selling Price Distribution</a:t>
            </a:r>
            <a:endParaRPr sz="2800" b="1" i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3E717A96-0C6E-17F8-1040-86D9E5321F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5013" y="1551661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26FD5F-C5CC-2240-AA61-909770AEF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87" y="1987074"/>
            <a:ext cx="5454445" cy="3633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3B0B58-3B87-60B5-DC48-C918A28D9C8F}"/>
              </a:ext>
            </a:extLst>
          </p:cNvPr>
          <p:cNvSpPr txBox="1"/>
          <p:nvPr/>
        </p:nvSpPr>
        <p:spPr>
          <a:xfrm>
            <a:off x="6312310" y="1509884"/>
            <a:ext cx="522830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</a:t>
            </a:r>
          </a:p>
          <a:p>
            <a:endParaRPr lang="en-US" sz="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Selling Price distribution is right-skewed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most laptops fall in lower and mid-price ranges.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majority of laptops are concentrated around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₹40,000 – ₹80,000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strong demand for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mid-range models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few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laptops create the right-side tail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the distribution.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Peaks in the curve represent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price ranges where laptops are most commonly available in the market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FA44F-BC69-E794-10ED-8E5AA605AA6F}"/>
              </a:ext>
            </a:extLst>
          </p:cNvPr>
          <p:cNvSpPr txBox="1"/>
          <p:nvPr/>
        </p:nvSpPr>
        <p:spPr>
          <a:xfrm>
            <a:off x="4168877" y="22644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i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Univariate Analysis</a:t>
            </a:r>
            <a:endParaRPr lang="en-IN" sz="36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723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B4ECA5A-B395-8A09-CDF0-51D54690D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E3461DE5-AFA7-0BEB-62BB-8C5A3B6F26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0548" y="305491"/>
            <a:ext cx="10515600" cy="594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3200" b="1" i="1" u="sng" dirty="0">
                <a:solidFill>
                  <a:srgbClr val="FF0000"/>
                </a:solidFill>
              </a:rPr>
              <a:t>Brand Distribution</a:t>
            </a:r>
            <a:endParaRPr sz="3200" b="1" i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35F84907-DA63-0778-65D8-45097AAD12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5013" y="1551661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8D285-DB7E-A631-3480-91F1906EA64D}"/>
              </a:ext>
            </a:extLst>
          </p:cNvPr>
          <p:cNvSpPr txBox="1"/>
          <p:nvPr/>
        </p:nvSpPr>
        <p:spPr>
          <a:xfrm>
            <a:off x="7346101" y="1167954"/>
            <a:ext cx="4659875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</a:t>
            </a:r>
          </a:p>
          <a:p>
            <a:endParaRPr lang="en-US" sz="5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ASUS and HP dominate the dataset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having the highest number of laptop models.</a:t>
            </a:r>
          </a:p>
          <a:p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Brands like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MSI and Apple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appear moderately, mainly representing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or gaming laptops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brands such as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Motorola,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Zebronics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Avita, Wings, and Walker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have very few models, indicating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market presence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5DDBD1-717F-2BA9-FE20-BD561822D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24" y="1283951"/>
            <a:ext cx="6896889" cy="425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274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0321201-AA7B-C47C-68EC-D02DD2A32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7407F753-0731-427C-A7F1-F3CE1F4A89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2897" y="415129"/>
            <a:ext cx="10515600" cy="594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4000" b="1" i="1" u="sng" dirty="0">
                <a:solidFill>
                  <a:srgbClr val="FF0000"/>
                </a:solidFill>
              </a:rPr>
              <a:t>Processor</a:t>
            </a:r>
            <a:endParaRPr sz="4000" b="1" i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A598B422-D024-FCA2-8102-4299E12F21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5013" y="1551661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7676B2-AA00-0F38-BA2C-898AE2E05CB8}"/>
              </a:ext>
            </a:extLst>
          </p:cNvPr>
          <p:cNvSpPr txBox="1"/>
          <p:nvPr/>
        </p:nvSpPr>
        <p:spPr>
          <a:xfrm>
            <a:off x="7538887" y="1182231"/>
            <a:ext cx="4434349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</a:t>
            </a:r>
          </a:p>
          <a:p>
            <a:endParaRPr lang="en-US" sz="7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laptops are powered by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 processors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especially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 i5 and Intel i7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strong market demand for balanced performance.</a:t>
            </a:r>
          </a:p>
          <a:p>
            <a:endParaRPr lang="en-US" sz="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AMD Ryzen processors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appear in several models and are commonly used in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and gaming laptops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High-performance processors are fewer in number because they usually belong to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laptop segments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E6B019-3DC4-4790-F7F8-E6061BEBC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919" y="1393465"/>
            <a:ext cx="7018628" cy="401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926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2762E36-FF5C-5CFD-5BB3-708F67820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36B003CD-A914-6EF6-5CE0-0A42D31524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8389" y="271011"/>
            <a:ext cx="4591323" cy="594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2800" b="1" i="1" u="sng" dirty="0">
                <a:solidFill>
                  <a:srgbClr val="FF0000"/>
                </a:solidFill>
              </a:rPr>
              <a:t>RAM Type Distribution</a:t>
            </a:r>
            <a:endParaRPr sz="2800" b="1" i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F3534D67-DEA2-E0E3-A539-986ACE81EB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5013" y="1551661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BF91AA-F55C-2056-CEA5-0F82D03EA398}"/>
              </a:ext>
            </a:extLst>
          </p:cNvPr>
          <p:cNvSpPr txBox="1"/>
          <p:nvPr/>
        </p:nvSpPr>
        <p:spPr>
          <a:xfrm>
            <a:off x="349197" y="4574569"/>
            <a:ext cx="63269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</a:t>
            </a:r>
          </a:p>
          <a:p>
            <a:endParaRPr lang="en-US" sz="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market is largely dominated by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Windows operating systems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strong preference due to wide software compatibility and user familiarity, while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macOS appears in fewer models as it is limited to Apple laptops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9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4FE422-A3E4-F596-B852-3A5EB6DDD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66" y="937722"/>
            <a:ext cx="6547437" cy="37153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0C824BD-08D0-EB07-E9E8-B867743EC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787" y="937721"/>
            <a:ext cx="5112391" cy="326751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2801C11-7473-3B6E-93F6-BE76393C9D86}"/>
              </a:ext>
            </a:extLst>
          </p:cNvPr>
          <p:cNvSpPr txBox="1"/>
          <p:nvPr/>
        </p:nvSpPr>
        <p:spPr>
          <a:xfrm>
            <a:off x="6676103" y="4574569"/>
            <a:ext cx="551589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</a:t>
            </a:r>
          </a:p>
          <a:p>
            <a:endParaRPr lang="en-US" sz="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laptops use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DDR4 RAM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highlighting its balance between performance and cost efficiency, while </a:t>
            </a: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DDR5 RAM appears in fewer models as it is mainly used in newer high-performance laptops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9" name="Google Shape;110;p4">
            <a:extLst>
              <a:ext uri="{FF2B5EF4-FFF2-40B4-BE49-F238E27FC236}">
                <a16:creationId xmlns:a16="http://schemas.microsoft.com/office/drawing/2014/main" id="{A64BDD9C-0377-A051-321A-0AEAE8ECE54C}"/>
              </a:ext>
            </a:extLst>
          </p:cNvPr>
          <p:cNvSpPr txBox="1">
            <a:spLocks/>
          </p:cNvSpPr>
          <p:nvPr/>
        </p:nvSpPr>
        <p:spPr>
          <a:xfrm>
            <a:off x="924404" y="271011"/>
            <a:ext cx="5441791" cy="594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FF0000"/>
              </a:buClr>
              <a:buSzPts val="4400"/>
            </a:pPr>
            <a:r>
              <a:rPr lang="en-IN" sz="3000" b="1" i="1" u="sng" dirty="0">
                <a:solidFill>
                  <a:srgbClr val="FF0000"/>
                </a:solidFill>
              </a:rPr>
              <a:t>Operating System Distribution</a:t>
            </a:r>
          </a:p>
        </p:txBody>
      </p:sp>
    </p:spTree>
    <p:extLst>
      <p:ext uri="{BB962C8B-B14F-4D97-AF65-F5344CB8AC3E}">
        <p14:creationId xmlns:p14="http://schemas.microsoft.com/office/powerpoint/2010/main" val="1259723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3E2CBAD-EA27-C48D-1C95-B356F1738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40D01920-0B78-693E-C004-F7AC4A4699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070771"/>
            <a:ext cx="4805513" cy="594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2800" b="1" i="1" u="sng" dirty="0">
                <a:solidFill>
                  <a:srgbClr val="FF0000"/>
                </a:solidFill>
              </a:rPr>
              <a:t>SSD Storage and Price</a:t>
            </a:r>
            <a:endParaRPr sz="2800" b="1" i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BAA40C8C-6958-45D3-BD66-5B13E02C65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5013" y="1551661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DC4B85-DE96-F3C6-97BF-F08268240D75}"/>
              </a:ext>
            </a:extLst>
          </p:cNvPr>
          <p:cNvSpPr txBox="1"/>
          <p:nvPr/>
        </p:nvSpPr>
        <p:spPr>
          <a:xfrm>
            <a:off x="6415676" y="1368147"/>
            <a:ext cx="4987285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</a:t>
            </a:r>
          </a:p>
          <a:p>
            <a:endParaRPr lang="en-US" sz="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SSD storage capacity increases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the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laptop price generally increases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a positive relationship between storage size and price.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laptops are clustered around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512GB and 1TB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suggesting these are the most common configurations.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Laptops with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2TB storage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usually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expensive and premium models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E6A789-4670-CC84-9B86-99347B9F2A79}"/>
              </a:ext>
            </a:extLst>
          </p:cNvPr>
          <p:cNvSpPr txBox="1"/>
          <p:nvPr/>
        </p:nvSpPr>
        <p:spPr>
          <a:xfrm>
            <a:off x="4168877" y="22644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i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Bivariate Analysis</a:t>
            </a:r>
            <a:endParaRPr lang="en-IN" sz="36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4A47D0-3781-7BDF-C296-70B4412B6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87" y="1923919"/>
            <a:ext cx="5197795" cy="338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598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A867E7A-AEF4-3D20-E091-368AE40EE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37BBA6F0-4FDF-5C93-282E-BD2B2DEE60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42187" y="464367"/>
            <a:ext cx="4805513" cy="594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3200" b="1" i="1" u="sng" dirty="0">
                <a:solidFill>
                  <a:srgbClr val="FF0000"/>
                </a:solidFill>
              </a:rPr>
              <a:t>Brand and Price</a:t>
            </a:r>
            <a:endParaRPr sz="3200" b="1" i="1" u="sng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F644CC80-17F1-6F30-AA3F-D140549FF1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5013" y="1551661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FD5D37-1A7F-79A0-B0ED-63DC620D4A36}"/>
              </a:ext>
            </a:extLst>
          </p:cNvPr>
          <p:cNvSpPr txBox="1"/>
          <p:nvPr/>
        </p:nvSpPr>
        <p:spPr>
          <a:xfrm>
            <a:off x="8003458" y="870471"/>
            <a:ext cx="3684639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</a:t>
            </a:r>
          </a:p>
          <a:p>
            <a:endParaRPr lang="en-US" sz="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brands like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Apple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Microsoft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generally have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median prices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compared to other brands.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Brands such as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ASUS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HP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Lenovo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Acer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Dell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moderate price ranges with many variations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availability of both budget and high-end models.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5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few very high prices appear as outliers, which are usually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or gaming laptops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43266A-3A74-9E18-009E-2F6CBAFB9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973" y="1179429"/>
            <a:ext cx="7510153" cy="43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45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1A66017-FF44-CBC7-2B86-05DADC05E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C28E633F-ADC9-6E67-7F9F-C986884F1A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5013" y="627282"/>
            <a:ext cx="4805513" cy="594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3200" b="1" i="1" u="sng" dirty="0">
                <a:solidFill>
                  <a:srgbClr val="FF0000"/>
                </a:solidFill>
              </a:rPr>
              <a:t>RAM Type and Price</a:t>
            </a: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469E73CA-8B30-6FCF-DD33-2CFCC22A55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5013" y="1551661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2C7299-5B3A-9D21-3677-4DA3FD728AE4}"/>
              </a:ext>
            </a:extLst>
          </p:cNvPr>
          <p:cNvSpPr txBox="1"/>
          <p:nvPr/>
        </p:nvSpPr>
        <p:spPr>
          <a:xfrm>
            <a:off x="7138220" y="874356"/>
            <a:ext cx="4532671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</a:t>
            </a:r>
          </a:p>
          <a:p>
            <a:endParaRPr lang="en-US" sz="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Laptops with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Unified Memory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tend to have the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average prices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commonly seen in premium devices such as those from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Apple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Newer RAM technologies like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DDR5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LPDDR5X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associated with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price ranges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more modern and powerful systems.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Older RAM types like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DDR3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LPDDR4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generally appear in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lower-priced laptops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reflecting older hardware or budget devices.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342DA0-B35E-0FFA-817F-F6C3565E2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03" y="1530161"/>
            <a:ext cx="6469941" cy="394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3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2B29086-79F0-4CDE-33E1-028185614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416AEEC7-8078-89B5-1A50-644CE45FEE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86487" y="735154"/>
            <a:ext cx="4805513" cy="594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2800" b="1" i="1" dirty="0" err="1">
                <a:solidFill>
                  <a:srgbClr val="FF0000"/>
                </a:solidFill>
              </a:rPr>
              <a:t>Correalation</a:t>
            </a:r>
            <a:r>
              <a:rPr lang="en-IN" sz="2800" b="1" i="1" dirty="0">
                <a:solidFill>
                  <a:srgbClr val="FF0000"/>
                </a:solidFill>
              </a:rPr>
              <a:t> Heat Map</a:t>
            </a:r>
            <a:endParaRPr sz="2800" b="1" i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3E1904D3-DE5B-63BF-37C5-A237C387F4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5013" y="1551661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DE195E-1AA5-BC4C-593F-260BC6F34763}"/>
              </a:ext>
            </a:extLst>
          </p:cNvPr>
          <p:cNvSpPr txBox="1"/>
          <p:nvPr/>
        </p:nvSpPr>
        <p:spPr>
          <a:xfrm>
            <a:off x="3605212" y="12097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i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Multivariate Analysis</a:t>
            </a:r>
            <a:endParaRPr lang="en-IN" sz="36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25B526-A8D6-68F0-4E54-29CF30344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970" y="1297759"/>
            <a:ext cx="5458714" cy="49754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D62AC2-3EB8-B1DD-AD3C-F010ED64A30A}"/>
              </a:ext>
            </a:extLst>
          </p:cNvPr>
          <p:cNvSpPr txBox="1"/>
          <p:nvPr/>
        </p:nvSpPr>
        <p:spPr>
          <a:xfrm>
            <a:off x="196646" y="584775"/>
            <a:ext cx="7069394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</a:t>
            </a:r>
            <a:endParaRPr lang="en-US" sz="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Price vs Other Features: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Price shows strong positive correlation with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Original Price, RAM, and SSD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meaning better specifications increase the selling price. It has weak correlation with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and Rating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these features have little influence on pricing.</a:t>
            </a:r>
          </a:p>
          <a:p>
            <a:endParaRPr lang="en-US" sz="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RAM vs Storage: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RAM and SSD storage show a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moderate positive correlation (~0.48)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This suggests laptops with higher RAM generally come with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larger SSD storage capacity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Discount vs Price: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Discount on Original Price has a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negative correlation with Selling Price (-0.35)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This means higher discount percentages usually lead to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 final selling prices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Original Price vs Discount Amount: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is a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positive relationship (~0.73)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between discount percentage and discount amount. Higher-priced laptops tend to have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larger discount amounts when discounts are applied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1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Laptop price is mainly influenced by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 specifications like RAM and SSD along with the original price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 like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size and rating have minimal impact on pricing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0313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BE19DFF-728C-7E6E-62AC-B70FBA57B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FB59EDC0-2354-BEC8-821B-D6F24E6403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1889" y="1207532"/>
            <a:ext cx="11009671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b="1" dirty="0"/>
              <a:t>Hypothesis</a:t>
            </a:r>
            <a:r>
              <a:rPr lang="en-US" sz="2000" dirty="0"/>
              <a:t> is a tentative assumption or statement about a relationship between variables that can be tested using data.</a:t>
            </a:r>
          </a:p>
          <a:p>
            <a:r>
              <a:rPr lang="en-US" sz="2000" dirty="0"/>
              <a:t>It is used in statistics to </a:t>
            </a:r>
            <a:r>
              <a:rPr lang="en-US" sz="2000" b="1" dirty="0"/>
              <a:t>determine whether the observed pattern in data is real or occurred by chance</a:t>
            </a:r>
            <a:r>
              <a:rPr lang="en-US" sz="2000" dirty="0"/>
              <a:t>.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Why Hypothesis Comes After Visualization?</a:t>
            </a:r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dirty="0"/>
              <a:t>Data visualization helps us </a:t>
            </a:r>
            <a:r>
              <a:rPr lang="en-US" sz="2000" b="1" dirty="0"/>
              <a:t>identify patterns, trends, and possible relationships</a:t>
            </a:r>
            <a:r>
              <a:rPr lang="en-US" sz="2000" dirty="0"/>
              <a:t> in the dataset through graphs and charts. It gives an initial idea of </a:t>
            </a:r>
            <a:r>
              <a:rPr lang="en-US" sz="2000" b="1" dirty="0"/>
              <a:t>what appears to be happening in the data</a:t>
            </a:r>
            <a:r>
              <a:rPr lang="en-US" sz="2000" dirty="0"/>
              <a:t>.</a:t>
            </a:r>
          </a:p>
          <a:p>
            <a:r>
              <a:rPr lang="en-US" sz="2000" dirty="0"/>
              <a:t>Hypothesis testing is performed after visualization to </a:t>
            </a:r>
            <a:r>
              <a:rPr lang="en-US" sz="2000" b="1" dirty="0"/>
              <a:t>statistically verify whether these observed patterns are actually significant</a:t>
            </a:r>
            <a:r>
              <a:rPr lang="en-US" sz="2000" dirty="0"/>
              <a:t>. It helps confirm that the results are </a:t>
            </a:r>
            <a:r>
              <a:rPr lang="en-US" sz="2000" b="1" dirty="0"/>
              <a:t>real and not caused by random chance</a:t>
            </a:r>
            <a:r>
              <a:rPr lang="en-US" sz="2000" dirty="0"/>
              <a:t>, making the analysis more reliable.</a:t>
            </a: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25400" indent="0">
              <a:buClr>
                <a:srgbClr val="FF0000"/>
              </a:buClr>
              <a:buSzPts val="2400"/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C5361B-3083-8E3A-2059-D9A75DA5120C}"/>
              </a:ext>
            </a:extLst>
          </p:cNvPr>
          <p:cNvSpPr txBox="1"/>
          <p:nvPr/>
        </p:nvSpPr>
        <p:spPr>
          <a:xfrm>
            <a:off x="4037831" y="33728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i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Hypothesis Testing</a:t>
            </a:r>
          </a:p>
        </p:txBody>
      </p:sp>
    </p:spTree>
    <p:extLst>
      <p:ext uri="{BB962C8B-B14F-4D97-AF65-F5344CB8AC3E}">
        <p14:creationId xmlns:p14="http://schemas.microsoft.com/office/powerpoint/2010/main" val="3755168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5F2DAFF-9AC1-EEAC-C515-BEA0A1836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2EA7A278-B952-B44D-340B-5F57A698B6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0440" y="1040383"/>
            <a:ext cx="11009671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H₀(Null Hypothesis):</a:t>
            </a:r>
            <a:r>
              <a:rPr lang="en-IN" sz="2000" dirty="0"/>
              <a:t>  Brand has no impact on laptop price.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H₁(Alternative Hypothesis):</a:t>
            </a:r>
            <a:r>
              <a:rPr lang="en-IN" sz="2000" dirty="0"/>
              <a:t> Brand affects price.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0AC2BD-7247-1523-B90E-DE82EF18DFF4}"/>
              </a:ext>
            </a:extLst>
          </p:cNvPr>
          <p:cNvSpPr txBox="1"/>
          <p:nvPr/>
        </p:nvSpPr>
        <p:spPr>
          <a:xfrm>
            <a:off x="621889" y="434490"/>
            <a:ext cx="96520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Hypothesis 1: Does Brand influence Laptop Price?</a:t>
            </a:r>
            <a:endParaRPr lang="en-IN" sz="3200" b="1" i="1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C9D6E2-46A3-282B-0A41-E8C68DCA0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909" y="2044005"/>
            <a:ext cx="6355631" cy="30254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8140F5-CFC6-1F6A-D120-186B63CE865F}"/>
              </a:ext>
            </a:extLst>
          </p:cNvPr>
          <p:cNvSpPr txBox="1"/>
          <p:nvPr/>
        </p:nvSpPr>
        <p:spPr>
          <a:xfrm>
            <a:off x="798869" y="2044005"/>
            <a:ext cx="6096000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Used: 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ANOVA</a:t>
            </a:r>
          </a:p>
          <a:p>
            <a:endParaRPr lang="en-IN" sz="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Rule :</a:t>
            </a:r>
          </a:p>
          <a:p>
            <a:endParaRPr lang="en-US" sz="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p &lt; 0.05 → Reject H₀</a:t>
            </a:r>
          </a:p>
          <a:p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p ≥ 0.05 → Fail to reject H₀</a:t>
            </a:r>
          </a:p>
          <a:p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 :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F-statistic: 13.161106340432811</a:t>
            </a:r>
          </a:p>
          <a:p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P-value: 1.0599391706829868e-32</a:t>
            </a:r>
          </a:p>
          <a:p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Since p &lt; 0.05 → Reject H₀</a:t>
            </a:r>
          </a:p>
        </p:txBody>
      </p:sp>
    </p:spTree>
    <p:extLst>
      <p:ext uri="{BB962C8B-B14F-4D97-AF65-F5344CB8AC3E}">
        <p14:creationId xmlns:p14="http://schemas.microsoft.com/office/powerpoint/2010/main" val="1403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4071D-ABEF-B6AD-444D-017EA6B74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B0F7F8B-DDF6-5F5C-9D20-50B0D0296884}"/>
              </a:ext>
            </a:extLst>
          </p:cNvPr>
          <p:cNvSpPr txBox="1"/>
          <p:nvPr/>
        </p:nvSpPr>
        <p:spPr>
          <a:xfrm>
            <a:off x="6951406" y="1279197"/>
            <a:ext cx="4666855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Insight:</a:t>
            </a:r>
          </a:p>
          <a:p>
            <a:endParaRPr lang="en-US" sz="10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Laptop prices vary across brands.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5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Apple and Microsoft laptops have higher median prices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while brands like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HP, Acer, and </a:t>
            </a:r>
            <a:r>
              <a:rPr lang="en-US" altLang="en-US" sz="20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Infinix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generally have lower price ranges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shows that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brand reputation and product positioning influence laptop pricing.</a:t>
            </a:r>
            <a:endParaRPr lang="en-US" alt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53D337-9CB4-D94C-06BB-4744CA47E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30" y="1039923"/>
            <a:ext cx="6503170" cy="434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410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C6790CD-40F2-A3D0-58DB-EBEC8F7CE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E6BEE426-2190-1208-98F9-3D471CDF45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0440" y="1040383"/>
            <a:ext cx="11009671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H₀(Null Hypothesis):</a:t>
            </a:r>
            <a:r>
              <a:rPr lang="en-IN" sz="2000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RAM has no impact on laptop price</a:t>
            </a:r>
            <a:endParaRPr lang="en-IN" sz="20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H₁(Alternative Hypothesis): </a:t>
            </a:r>
            <a:r>
              <a:rPr lang="en-IN" sz="20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RAM affects laptop price</a:t>
            </a:r>
            <a:endParaRPr lang="en-IN" sz="2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66848F-0053-3C59-5FB5-52E221BCC5A6}"/>
              </a:ext>
            </a:extLst>
          </p:cNvPr>
          <p:cNvSpPr txBox="1"/>
          <p:nvPr/>
        </p:nvSpPr>
        <p:spPr>
          <a:xfrm>
            <a:off x="621889" y="424658"/>
            <a:ext cx="96520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Hypothesis Test2: Does RAM affect laptop price?</a:t>
            </a:r>
            <a:endParaRPr lang="en-IN" sz="3200" b="1" i="1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CE7117-F80C-8EEC-1ADE-742048C37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275" y="2282090"/>
            <a:ext cx="5387807" cy="22938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8B9134-5907-CE24-E709-6DE18C93BC77}"/>
              </a:ext>
            </a:extLst>
          </p:cNvPr>
          <p:cNvSpPr txBox="1"/>
          <p:nvPr/>
        </p:nvSpPr>
        <p:spPr>
          <a:xfrm>
            <a:off x="738918" y="2180023"/>
            <a:ext cx="6096000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Used: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Pearson Correlation Test</a:t>
            </a:r>
            <a:endParaRPr lang="en-IN" sz="2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Rule :</a:t>
            </a:r>
          </a:p>
          <a:p>
            <a:endParaRPr lang="en-US" sz="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p &lt; 0.05 → Reject H₀</a:t>
            </a:r>
          </a:p>
          <a:p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p ≥ 0.05 → Fail to reject H₀</a:t>
            </a:r>
          </a:p>
          <a:p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 :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Correlation: 0.6484634878443511</a:t>
            </a:r>
          </a:p>
          <a:p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P-value: 1.9903329007203843e-69</a:t>
            </a:r>
          </a:p>
          <a:p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Since p &lt; 0.05 → Reject H₀</a:t>
            </a:r>
          </a:p>
        </p:txBody>
      </p:sp>
    </p:spTree>
    <p:extLst>
      <p:ext uri="{BB962C8B-B14F-4D97-AF65-F5344CB8AC3E}">
        <p14:creationId xmlns:p14="http://schemas.microsoft.com/office/powerpoint/2010/main" val="3082493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2032A95-A9FF-7551-7176-9581D502599C}"/>
              </a:ext>
            </a:extLst>
          </p:cNvPr>
          <p:cNvSpPr txBox="1"/>
          <p:nvPr/>
        </p:nvSpPr>
        <p:spPr>
          <a:xfrm>
            <a:off x="6282813" y="1426681"/>
            <a:ext cx="4689987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Insight:</a:t>
            </a:r>
          </a:p>
          <a:p>
            <a:endParaRPr lang="en-US" sz="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is a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 relationship between RAM and laptop price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As RAM capacity increases, the selling price generally increases.</a:t>
            </a:r>
          </a:p>
          <a:p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indicates that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laptops with higher RAM configurations tend to be priced higher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as they offer better performance and higher specifications.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50157C-B4F6-C270-9907-CCE8E8642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39" y="1325900"/>
            <a:ext cx="5364945" cy="360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6812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B14AEB0-CC73-9F8A-1DD6-B674014DC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5030CC5A-D8E7-12AC-D3DC-E64CE27AE1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0440" y="1040383"/>
            <a:ext cx="11009671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H₀(Null Hypothesis):</a:t>
            </a:r>
            <a:r>
              <a:rPr lang="en-IN" sz="2000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size does not affect laptop price</a:t>
            </a:r>
            <a:endParaRPr lang="en-IN" sz="20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H₁(Alternative Hypothesis):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size affects laptop price</a:t>
            </a:r>
            <a:endParaRPr lang="en-IN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B92E24-F172-B7FF-9E1A-8A83BB84A977}"/>
              </a:ext>
            </a:extLst>
          </p:cNvPr>
          <p:cNvSpPr txBox="1"/>
          <p:nvPr/>
        </p:nvSpPr>
        <p:spPr>
          <a:xfrm>
            <a:off x="621889" y="424658"/>
            <a:ext cx="96520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Hypothesis Test3: </a:t>
            </a:r>
            <a:r>
              <a:rPr lang="en-US" sz="3200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Size vs Selling Price</a:t>
            </a:r>
            <a:endParaRPr lang="en-IN" sz="3200" b="1" i="1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8BCF7E-62C3-2BCA-3FD0-2AFC5319E5C7}"/>
              </a:ext>
            </a:extLst>
          </p:cNvPr>
          <p:cNvSpPr txBox="1"/>
          <p:nvPr/>
        </p:nvSpPr>
        <p:spPr>
          <a:xfrm>
            <a:off x="738918" y="2180023"/>
            <a:ext cx="6096000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Used: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Pearson Correlation Test</a:t>
            </a:r>
            <a:endParaRPr lang="en-IN" sz="2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Rule :</a:t>
            </a:r>
          </a:p>
          <a:p>
            <a:endParaRPr lang="en-US" sz="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p &lt; 0.05 → Reject H₀</a:t>
            </a:r>
          </a:p>
          <a:p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p ≥ 0.05 → Fail to reject H₀</a:t>
            </a:r>
          </a:p>
          <a:p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 :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Correlation: -0.016849072625442055</a:t>
            </a:r>
          </a:p>
          <a:p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P-value:0.6878569473891811</a:t>
            </a:r>
          </a:p>
          <a:p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Since p &gt; 0.05 → Failed to Reject H₀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C34A0F-506A-4BC4-498F-BC6A17788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537" y="2180023"/>
            <a:ext cx="5966977" cy="221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7013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05705-DCC5-207D-0F61-711CB5A2F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95D3AFF-2FC1-C2ED-6614-B1A17E95B790}"/>
              </a:ext>
            </a:extLst>
          </p:cNvPr>
          <p:cNvSpPr txBox="1"/>
          <p:nvPr/>
        </p:nvSpPr>
        <p:spPr>
          <a:xfrm>
            <a:off x="6096000" y="1741313"/>
            <a:ext cx="5364945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Insight:</a:t>
            </a:r>
          </a:p>
          <a:p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is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clear relationship between display size and laptop price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Laptops with similar display sizes (around 14–16 inches) appear across a wide range of prices, indicating that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size does not significantly influence laptop pricing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6AAB59-D6F4-6B1F-347D-0B14388D9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12" y="1444324"/>
            <a:ext cx="5288738" cy="36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789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1AF87AF-4CEF-3B03-56A6-B876C86E0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7F233AC1-E71D-9DE5-5D51-5D959D5058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1889" y="1207532"/>
            <a:ext cx="11009671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Extracting structured information from unstructured laptop specifications</a:t>
            </a:r>
          </a:p>
          <a:p>
            <a:pPr marL="114300" indent="0">
              <a:buNone/>
            </a:pPr>
            <a:endParaRPr lang="en-US" sz="1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Cleaning Price Columns</a:t>
            </a:r>
            <a:r>
              <a:rPr lang="en-US" sz="2000" dirty="0"/>
              <a:t> – Price values contained commas and text formats, so they had to be cleaned and converted to numbers.</a:t>
            </a:r>
          </a:p>
          <a:p>
            <a:pPr marL="114300" indent="0">
              <a:buNone/>
            </a:pPr>
            <a:endParaRPr lang="en-US" sz="1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Handling Missing Values</a:t>
            </a:r>
            <a:r>
              <a:rPr lang="en-US" sz="2000" dirty="0"/>
              <a:t> – Some columns like SSD, Display, and Rating had missing values that needed proper treatment.</a:t>
            </a:r>
          </a:p>
          <a:p>
            <a:pPr marL="114300" indent="0">
              <a:buNone/>
            </a:pPr>
            <a:endParaRPr lang="en-US" sz="1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Handling Price Outliers</a:t>
            </a:r>
            <a:r>
              <a:rPr lang="en-US" sz="2000" dirty="0"/>
              <a:t> – Premium and gaming laptops had very high prices which affected price distribution.</a:t>
            </a:r>
          </a:p>
          <a:p>
            <a:pPr marL="114300" indent="0">
              <a:buNone/>
            </a:pPr>
            <a:endParaRPr lang="en-US" sz="1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Selecting appropriate statistical tests for hypothesis analysis</a:t>
            </a:r>
          </a:p>
          <a:p>
            <a:pPr marL="114300" indent="0">
              <a:buNone/>
            </a:pPr>
            <a:endParaRPr lang="en-US" sz="1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Analyzing Relationships Between Features</a:t>
            </a:r>
            <a:r>
              <a:rPr lang="en-US" sz="2000" dirty="0"/>
              <a:t> – Multiple visualizations were needed to understand how laptop specifications affect price.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2B461E-7B8D-734B-A973-0C88290C9732}"/>
              </a:ext>
            </a:extLst>
          </p:cNvPr>
          <p:cNvSpPr txBox="1"/>
          <p:nvPr/>
        </p:nvSpPr>
        <p:spPr>
          <a:xfrm>
            <a:off x="4696592" y="22690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i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</a:t>
            </a:r>
          </a:p>
        </p:txBody>
      </p:sp>
    </p:spTree>
    <p:extLst>
      <p:ext uri="{BB962C8B-B14F-4D97-AF65-F5344CB8AC3E}">
        <p14:creationId xmlns:p14="http://schemas.microsoft.com/office/powerpoint/2010/main" val="27164335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1A3C693-77E9-F8D3-4EDD-67BF540EF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3A0187A5-54EA-8E1E-A35A-08AB294EE6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2506" y="1394344"/>
            <a:ext cx="11009671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b="1" dirty="0"/>
              <a:t>Most Laptops Fall In The Mid-Price Range</a:t>
            </a:r>
            <a:r>
              <a:rPr lang="en-US" sz="2000" dirty="0"/>
              <a:t> making it the most competitive market category.</a:t>
            </a:r>
          </a:p>
          <a:p>
            <a:r>
              <a:rPr lang="en-US" sz="2000" b="1" dirty="0"/>
              <a:t>Windows Is The Most Common Operating System</a:t>
            </a:r>
            <a:r>
              <a:rPr lang="en-US" sz="2000" dirty="0"/>
              <a:t>, showing its strong dominance in the market.</a:t>
            </a:r>
          </a:p>
          <a:p>
            <a:r>
              <a:rPr lang="en-US" sz="2000" b="1" dirty="0"/>
              <a:t>8GB And 16GB RAM Laptops Are Most Popular</a:t>
            </a:r>
            <a:endParaRPr lang="en-US" sz="2000" dirty="0"/>
          </a:p>
          <a:p>
            <a:r>
              <a:rPr lang="en-US" sz="2000" b="1" dirty="0"/>
              <a:t>Processor Type Strongly Influences Price</a:t>
            </a:r>
            <a:r>
              <a:rPr lang="en-US" sz="2000" dirty="0"/>
              <a:t> – Laptops with higher-end processors like </a:t>
            </a:r>
            <a:r>
              <a:rPr lang="en-US" sz="2000" b="1" dirty="0"/>
              <a:t>Intel i7 / Ryzen 7</a:t>
            </a:r>
            <a:r>
              <a:rPr lang="en-US" sz="2000" dirty="0"/>
              <a:t> generally have higher prices.</a:t>
            </a:r>
          </a:p>
          <a:p>
            <a:r>
              <a:rPr lang="en-US" sz="2000" b="1" dirty="0"/>
              <a:t>Premium And Gaming Laptops Create Price Outliers</a:t>
            </a:r>
            <a:endParaRPr lang="en-US" sz="2000" dirty="0"/>
          </a:p>
          <a:p>
            <a:r>
              <a:rPr lang="en-US" sz="2000" b="1" dirty="0"/>
              <a:t>Discounts Vary Across Laptop Models</a:t>
            </a:r>
            <a:r>
              <a:rPr lang="en-US" sz="2000" dirty="0"/>
              <a:t> – Different brands and configurations offer different discount levels in the market.</a:t>
            </a:r>
          </a:p>
          <a:p>
            <a:r>
              <a:rPr lang="en-US" sz="2000" b="1" dirty="0"/>
              <a:t>Ratings Are Mostly Positive Across Products</a:t>
            </a:r>
            <a:r>
              <a:rPr lang="en-US" sz="2000" dirty="0"/>
              <a:t> </a:t>
            </a:r>
          </a:p>
          <a:p>
            <a:r>
              <a:rPr lang="en-US" sz="2000" b="1" dirty="0"/>
              <a:t>Laptop Specifications Directly Affect Price: </a:t>
            </a:r>
            <a:r>
              <a:rPr lang="en-US" sz="2000" dirty="0"/>
              <a:t>Features like </a:t>
            </a:r>
            <a:r>
              <a:rPr lang="en-US" sz="2000" b="1" dirty="0"/>
              <a:t>RAM, SSD capacity, and processor performance</a:t>
            </a:r>
            <a:r>
              <a:rPr lang="en-US" sz="2000" dirty="0"/>
              <a:t> are key factors influencing laptop pricing.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DCB26C-DA1F-2C5B-21B3-35E2B5429BA3}"/>
              </a:ext>
            </a:extLst>
          </p:cNvPr>
          <p:cNvSpPr txBox="1"/>
          <p:nvPr/>
        </p:nvSpPr>
        <p:spPr>
          <a:xfrm>
            <a:off x="4588436" y="49237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i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</a:t>
            </a:r>
          </a:p>
        </p:txBody>
      </p:sp>
    </p:spTree>
    <p:extLst>
      <p:ext uri="{BB962C8B-B14F-4D97-AF65-F5344CB8AC3E}">
        <p14:creationId xmlns:p14="http://schemas.microsoft.com/office/powerpoint/2010/main" val="409826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9346F7C-9BB7-E2E8-F9BF-D3F2D6A5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7F95B081-9C1E-2EF9-1A18-B4B4A0A495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1889" y="1207532"/>
            <a:ext cx="11009671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Focus On Mid-Range Laptops</a:t>
            </a:r>
            <a:r>
              <a:rPr lang="en-US" sz="2000" dirty="0"/>
              <a:t> – Laptops with </a:t>
            </a:r>
            <a:r>
              <a:rPr lang="en-US" sz="2000" b="1" dirty="0"/>
              <a:t>8GB–16GB RAM and SSD storage</a:t>
            </a:r>
            <a:r>
              <a:rPr lang="en-US" sz="2000" dirty="0"/>
              <a:t> are widely preferred by customers.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Offer Competitive Pricing For Popular Configurations</a:t>
            </a:r>
            <a:r>
              <a:rPr lang="en-US" sz="2000" dirty="0"/>
              <a:t> – Models with </a:t>
            </a:r>
            <a:r>
              <a:rPr lang="en-US" sz="2000" b="1" dirty="0"/>
              <a:t>Intel i5 / Ryzen 5 and 8–16GB RAM</a:t>
            </a:r>
            <a:r>
              <a:rPr lang="en-US" sz="2000" dirty="0"/>
              <a:t> should have balanced pricing.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Clearly Display Key Specifications</a:t>
            </a:r>
            <a:r>
              <a:rPr lang="en-US" sz="2000" dirty="0"/>
              <a:t> – RAM, SSD, Processor, OS, and Display details should be shown clearly for easy comparison.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Increase</a:t>
            </a:r>
            <a:r>
              <a:rPr lang="en-US" sz="2000" b="1" dirty="0"/>
              <a:t> Discounts Strategically</a:t>
            </a:r>
            <a:r>
              <a:rPr lang="en-US" sz="2000" dirty="0"/>
              <a:t> – Proper discount offers can increase product visibility and attract more buyers.</a:t>
            </a:r>
            <a:endParaRPr lang="en-US" sz="5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Highlight</a:t>
            </a:r>
            <a:r>
              <a:rPr lang="en-US" sz="2000" b="1" dirty="0"/>
              <a:t> High-Demand Features</a:t>
            </a:r>
            <a:r>
              <a:rPr lang="en-US" sz="2000" dirty="0"/>
              <a:t> – Laptops with </a:t>
            </a:r>
            <a:r>
              <a:rPr lang="en-US" sz="2000" b="1" dirty="0"/>
              <a:t>better processors, larger SSD storage, and higher RAM</a:t>
            </a:r>
            <a:r>
              <a:rPr lang="en-US" sz="2000" dirty="0"/>
              <a:t> attract more customers.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7DC49E-993F-EE54-5E10-C75D90C8F7AF}"/>
              </a:ext>
            </a:extLst>
          </p:cNvPr>
          <p:cNvSpPr txBox="1"/>
          <p:nvPr/>
        </p:nvSpPr>
        <p:spPr>
          <a:xfrm>
            <a:off x="3919843" y="37438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i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4853424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1604909-B8CA-7435-C9BD-67FCF3538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40E42E8F-F1BB-E666-516A-3A504BC11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1889" y="1207532"/>
            <a:ext cx="11009671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b="1" dirty="0"/>
              <a:t>Laptop price is mainly influenced by hardware specifications</a:t>
            </a:r>
            <a:r>
              <a:rPr lang="en-US" sz="2000" dirty="0"/>
              <a:t> such as RAM, processor type, and SSD storage.</a:t>
            </a:r>
          </a:p>
          <a:p>
            <a:r>
              <a:rPr lang="en-US" sz="2000" b="1" dirty="0"/>
              <a:t>Mid-range laptops dominate the market</a:t>
            </a:r>
            <a:r>
              <a:rPr lang="en-US" sz="2000" dirty="0"/>
              <a:t>, especially models with </a:t>
            </a:r>
            <a:r>
              <a:rPr lang="en-US" sz="2000" b="1" dirty="0"/>
              <a:t>8GB–16GB RAM and SSD storage</a:t>
            </a:r>
            <a:r>
              <a:rPr lang="en-US" sz="2000" dirty="0"/>
              <a:t>.</a:t>
            </a:r>
          </a:p>
          <a:p>
            <a:r>
              <a:rPr lang="en-US" sz="2000" b="1" dirty="0"/>
              <a:t>Brand reputation also affects pricing</a:t>
            </a:r>
            <a:r>
              <a:rPr lang="en-US" sz="2000" dirty="0"/>
              <a:t>, with well-known brands often having higher prices.</a:t>
            </a:r>
          </a:p>
          <a:p>
            <a:r>
              <a:rPr lang="en-US" sz="2000" b="1" dirty="0"/>
              <a:t>Premium and gaming laptops create price outliers</a:t>
            </a:r>
            <a:r>
              <a:rPr lang="en-US" sz="2000" dirty="0"/>
              <a:t> due to higher performance specifications.</a:t>
            </a:r>
          </a:p>
          <a:p>
            <a:r>
              <a:rPr lang="en-US" sz="2000" b="1" dirty="0"/>
              <a:t>Display size has little impact on laptop price</a:t>
            </a:r>
            <a:r>
              <a:rPr lang="en-US" sz="2000" dirty="0"/>
              <a:t>, as laptops with similar screen sizes appear across different price ranges.</a:t>
            </a:r>
          </a:p>
          <a:p>
            <a:r>
              <a:rPr lang="en-US" sz="2000" b="1" dirty="0"/>
              <a:t>Overall, laptop pricing is driven more by performance specifications than by display size.</a:t>
            </a:r>
            <a:endParaRPr lang="en-US" sz="2000" dirty="0"/>
          </a:p>
          <a:p>
            <a:pPr>
              <a:buFont typeface="Wingdings" panose="05000000000000000000" pitchFamily="2" charset="2"/>
              <a:buChar char="§"/>
            </a:pPr>
            <a:endParaRPr lang="en-US" sz="2000" dirty="0"/>
          </a:p>
          <a:p>
            <a:pPr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6587C3-DC39-00AA-5C53-C5335E07A8D9}"/>
              </a:ext>
            </a:extLst>
          </p:cNvPr>
          <p:cNvSpPr txBox="1"/>
          <p:nvPr/>
        </p:nvSpPr>
        <p:spPr>
          <a:xfrm>
            <a:off x="3919843" y="37438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i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2683900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0DC1F-71CA-A4AB-C1F8-EF6B0D69A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00748"/>
            <a:ext cx="10515600" cy="3069970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US" sz="4400" b="1" dirty="0">
                <a:solidFill>
                  <a:srgbClr val="FF0000"/>
                </a:solidFill>
              </a:rPr>
              <a:t>Q &amp; A</a:t>
            </a:r>
            <a:endParaRPr lang="en-IN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9227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59841" y="2659559"/>
            <a:ext cx="4625258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1" i="0" u="none" strike="noStrike" cap="none" dirty="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2050</Words>
  <Application>Microsoft Office PowerPoint</Application>
  <PresentationFormat>Widescreen</PresentationFormat>
  <Paragraphs>327</Paragraphs>
  <Slides>29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Lato Black</vt:lpstr>
      <vt:lpstr>Calibri</vt:lpstr>
      <vt:lpstr>Libre Baskerville</vt:lpstr>
      <vt:lpstr>Arial</vt:lpstr>
      <vt:lpstr>Wingdings</vt:lpstr>
      <vt:lpstr>Office Theme</vt:lpstr>
      <vt:lpstr>PowerPoint Presentation</vt:lpstr>
      <vt:lpstr>PowerPoint Presentation</vt:lpstr>
      <vt:lpstr>Agenda</vt:lpstr>
      <vt:lpstr>Business Problem</vt:lpstr>
      <vt:lpstr>PowerPoint Presentation</vt:lpstr>
      <vt:lpstr>Web Scraping Details</vt:lpstr>
      <vt:lpstr>Summary Of The Data</vt:lpstr>
      <vt:lpstr>Data Cleaning</vt:lpstr>
      <vt:lpstr>Selling Price Distribution</vt:lpstr>
      <vt:lpstr>Brand Distribution</vt:lpstr>
      <vt:lpstr>Processor</vt:lpstr>
      <vt:lpstr>RAM Type Distribution</vt:lpstr>
      <vt:lpstr>SSD Storage and Price</vt:lpstr>
      <vt:lpstr>Brand and Price</vt:lpstr>
      <vt:lpstr>RAM Type and Price</vt:lpstr>
      <vt:lpstr>Correalation Heat Map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VIJAYA LAKSHMI BOLLAPALLI</cp:lastModifiedBy>
  <cp:revision>17</cp:revision>
  <dcterms:created xsi:type="dcterms:W3CDTF">2021-02-16T05:19:01Z</dcterms:created>
  <dcterms:modified xsi:type="dcterms:W3CDTF">2026-03-07T05:59:47Z</dcterms:modified>
</cp:coreProperties>
</file>